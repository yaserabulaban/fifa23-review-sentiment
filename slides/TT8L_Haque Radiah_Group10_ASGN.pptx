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Lexend Deca" charset="1" panose="00000000000000000000"/>
      <p:regular r:id="rId28"/>
    </p:embeddedFont>
    <p:embeddedFont>
      <p:font typeface="Futura Display" charset="1" panose="020B0504050904050C04"/>
      <p:regular r:id="rId29"/>
    </p:embeddedFont>
    <p:embeddedFont>
      <p:font typeface="Heebo Bold" charset="1" panose="00000800000000000000"/>
      <p:regular r:id="rId30"/>
    </p:embeddedFont>
    <p:embeddedFont>
      <p:font typeface="Heebo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0">
            <a:off x="-2285506" y="-4771437"/>
            <a:ext cx="22859012" cy="17585432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566829" y="650805"/>
            <a:ext cx="8021890" cy="9403737"/>
            <a:chOff x="0" y="0"/>
            <a:chExt cx="1806471" cy="21176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06471" cy="2117653"/>
            </a:xfrm>
            <a:custGeom>
              <a:avLst/>
              <a:gdLst/>
              <a:ahLst/>
              <a:cxnLst/>
              <a:rect r="r" b="b" t="t" l="l"/>
              <a:pathLst>
                <a:path h="2117653" w="1806471">
                  <a:moveTo>
                    <a:pt x="49220" y="0"/>
                  </a:moveTo>
                  <a:lnTo>
                    <a:pt x="1757251" y="0"/>
                  </a:lnTo>
                  <a:cubicBezTo>
                    <a:pt x="1770305" y="0"/>
                    <a:pt x="1782824" y="5186"/>
                    <a:pt x="1792055" y="14416"/>
                  </a:cubicBezTo>
                  <a:cubicBezTo>
                    <a:pt x="1801285" y="23647"/>
                    <a:pt x="1806471" y="36166"/>
                    <a:pt x="1806471" y="49220"/>
                  </a:cubicBezTo>
                  <a:lnTo>
                    <a:pt x="1806471" y="2068433"/>
                  </a:lnTo>
                  <a:cubicBezTo>
                    <a:pt x="1806471" y="2081487"/>
                    <a:pt x="1801285" y="2094006"/>
                    <a:pt x="1792055" y="2103237"/>
                  </a:cubicBezTo>
                  <a:cubicBezTo>
                    <a:pt x="1782824" y="2112467"/>
                    <a:pt x="1770305" y="2117653"/>
                    <a:pt x="1757251" y="2117653"/>
                  </a:cubicBezTo>
                  <a:lnTo>
                    <a:pt x="49220" y="2117653"/>
                  </a:lnTo>
                  <a:cubicBezTo>
                    <a:pt x="36166" y="2117653"/>
                    <a:pt x="23647" y="2112467"/>
                    <a:pt x="14416" y="2103237"/>
                  </a:cubicBezTo>
                  <a:cubicBezTo>
                    <a:pt x="5186" y="2094006"/>
                    <a:pt x="0" y="2081487"/>
                    <a:pt x="0" y="2068433"/>
                  </a:cubicBezTo>
                  <a:lnTo>
                    <a:pt x="0" y="49220"/>
                  </a:lnTo>
                  <a:cubicBezTo>
                    <a:pt x="0" y="36166"/>
                    <a:pt x="5186" y="23647"/>
                    <a:pt x="14416" y="14416"/>
                  </a:cubicBezTo>
                  <a:cubicBezTo>
                    <a:pt x="23647" y="5186"/>
                    <a:pt x="36166" y="0"/>
                    <a:pt x="49220" y="0"/>
                  </a:cubicBez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06471" cy="2155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356478" y="4058084"/>
          <a:ext cx="7315200" cy="3095625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AF9EC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Student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B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99" strike="noStrike" u="none">
                          <a:solidFill>
                            <a:srgbClr val="FAF9EC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Student 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8BBA"/>
                    </a:solidFill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YASER E H ABULABAN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99" strike="noStrike" u="none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1221305612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187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99" strike="noStrike" u="none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Lai Cal Wyn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99" strike="noStrike" u="none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1231303570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566829" y="1154423"/>
            <a:ext cx="8032132" cy="819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1"/>
              </a:lnSpc>
            </a:pPr>
            <a:r>
              <a:rPr lang="en-US" sz="9293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SENTIMENT ANALYSIS AND OPINION MINING OF FIFA 23 STEAM REVIEWS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53928" y="7468576"/>
            <a:ext cx="6320299" cy="73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8"/>
              </a:lnSpc>
            </a:pPr>
            <a:r>
              <a:rPr lang="en-US" sz="430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TC2L / TT8L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80570" y="942763"/>
            <a:ext cx="9592812" cy="150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8"/>
              </a:lnSpc>
            </a:pPr>
            <a:r>
              <a:rPr lang="en-US" sz="430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CDS6344 SOCIAL MEDIA COMPUTING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53928" y="2919146"/>
            <a:ext cx="6320299" cy="738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8"/>
              </a:lnSpc>
            </a:pPr>
            <a:r>
              <a:rPr lang="en-US" sz="430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GROUP 10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53928" y="8419316"/>
            <a:ext cx="6320299" cy="150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8"/>
              </a:lnSpc>
            </a:pPr>
            <a:r>
              <a:rPr lang="en-US" sz="430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SUBMITTED TO: </a:t>
            </a:r>
          </a:p>
          <a:p>
            <a:pPr algn="ctr">
              <a:lnSpc>
                <a:spcPts val="6028"/>
              </a:lnSpc>
            </a:pPr>
            <a:r>
              <a:rPr lang="en-US" sz="430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DR. HAQUE RADIAH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365711" y="1825958"/>
          <a:ext cx="13556578" cy="7986089"/>
        </p:xfrm>
        <a:graphic>
          <a:graphicData uri="http://schemas.openxmlformats.org/drawingml/2006/table">
            <a:tbl>
              <a:tblPr/>
              <a:tblGrid>
                <a:gridCol w="2857759"/>
                <a:gridCol w="1822014"/>
                <a:gridCol w="5953953"/>
                <a:gridCol w="2922852"/>
              </a:tblGrid>
              <a:tr h="19278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AF9EC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Student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AF9EC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Student 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AF9EC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Tasks Completed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AF9EC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Contribution (100%)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</a:tr>
              <a:tr h="28616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Yaser E H Abulaban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1221305612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Problem statement and hypotheses </a:t>
                      </a:r>
                      <a:endParaRPr lang="en-US" sz="1100"/>
                    </a:p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dataset cleaning and preprocessing</a:t>
                      </a:r>
                    </a:p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VADER sentiment analysis and binary voted_up comparison</a:t>
                      </a:r>
                    </a:p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traditional ML model evaluation</a:t>
                      </a:r>
                    </a:p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hypothesis testing interpretation</a:t>
                      </a:r>
                    </a:p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report results and discussion support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50%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3196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Lai Cal Wyn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1231303570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Literature review and project background</a:t>
                      </a:r>
                      <a:endParaRPr lang="en-US" sz="1100"/>
                    </a:p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feature engineering and TF-IDF explanation</a:t>
                      </a:r>
                    </a:p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BiLSTM and DistilBERT model discussion</a:t>
                      </a:r>
                    </a:p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opinion mining and ABSA analysis</a:t>
                      </a:r>
                    </a:p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visualization selection </a:t>
                      </a:r>
                    </a:p>
                    <a:p>
                      <a:pPr algn="l" marL="410209" indent="-205105" lvl="1">
                        <a:lnSpc>
                          <a:spcPts val="2659"/>
                        </a:lnSpc>
                        <a:buFont typeface="Arial"/>
                        <a:buChar char="•"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conclusion, future work and presentation slide preparation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50%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752703" y="384609"/>
            <a:ext cx="16832069" cy="144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6"/>
              </a:lnSpc>
            </a:pPr>
            <a:r>
              <a:rPr lang="en-US" sz="11038">
                <a:solidFill>
                  <a:srgbClr val="31356E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GROUP MEMBER CONTRIBUTION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19344569" cy="4268064"/>
            <a:chOff x="0" y="0"/>
            <a:chExt cx="4356256" cy="9611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255" cy="961137"/>
            </a:xfrm>
            <a:custGeom>
              <a:avLst/>
              <a:gdLst/>
              <a:ahLst/>
              <a:cxnLst/>
              <a:rect r="r" b="b" t="t" l="l"/>
              <a:pathLst>
                <a:path h="961137" w="4356255">
                  <a:moveTo>
                    <a:pt x="0" y="0"/>
                  </a:moveTo>
                  <a:lnTo>
                    <a:pt x="4356255" y="0"/>
                  </a:lnTo>
                  <a:lnTo>
                    <a:pt x="4356255" y="961137"/>
                  </a:lnTo>
                  <a:lnTo>
                    <a:pt x="0" y="96113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56256" cy="999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65407"/>
            <a:ext cx="13333867" cy="14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72"/>
              </a:lnSpc>
            </a:pPr>
            <a:r>
              <a:rPr lang="en-US" sz="11638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PROJECT BACKGROUND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36381" y="3154349"/>
            <a:ext cx="5025590" cy="50255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77040" y="5475935"/>
            <a:ext cx="4530347" cy="453034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515689" y="6321502"/>
            <a:ext cx="3653048" cy="285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</a:pPr>
            <a:r>
              <a:rPr lang="en-US" sz="39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MANUAL ANALYSIS IS DIFFICULT AND TIME-CONSUMING.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34728" y="3281157"/>
            <a:ext cx="5025590" cy="502559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86745" y="4362190"/>
            <a:ext cx="3521555" cy="288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7"/>
              </a:lnSpc>
            </a:pPr>
            <a:r>
              <a:rPr lang="en-US" sz="395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STEAM CONTAINS THOUSANDS OF USER REVIEWS.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60388" y="3857970"/>
            <a:ext cx="4577577" cy="34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</a:pPr>
            <a:r>
              <a:rPr lang="en-US" sz="39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SENTIMENT ANALYSIS CAN AUTOMATE UNDERSTANDING OF PLAYER OPINIONS.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025328" y="5772310"/>
            <a:ext cx="4233972" cy="423397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315790" y="6469690"/>
            <a:ext cx="3653048" cy="285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3"/>
              </a:lnSpc>
            </a:pPr>
            <a:r>
              <a:rPr lang="en-US" sz="39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FIFA 23 REVIEWS IS SELECTED AS A CASE STUDY.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19344569" cy="7166986"/>
            <a:chOff x="0" y="0"/>
            <a:chExt cx="4356256" cy="1613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255" cy="1613953"/>
            </a:xfrm>
            <a:custGeom>
              <a:avLst/>
              <a:gdLst/>
              <a:ahLst/>
              <a:cxnLst/>
              <a:rect r="r" b="b" t="t" l="l"/>
              <a:pathLst>
                <a:path h="1613953" w="4356255">
                  <a:moveTo>
                    <a:pt x="0" y="0"/>
                  </a:moveTo>
                  <a:lnTo>
                    <a:pt x="4356255" y="0"/>
                  </a:lnTo>
                  <a:lnTo>
                    <a:pt x="4356255" y="1613953"/>
                  </a:lnTo>
                  <a:lnTo>
                    <a:pt x="0" y="1613953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56256" cy="1652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43061" y="441890"/>
            <a:ext cx="12343403" cy="2907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72"/>
              </a:lnSpc>
            </a:pPr>
            <a:r>
              <a:rPr lang="en-US" sz="11638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PROBLEM STATEMENT &amp; 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92368" y="3301697"/>
            <a:ext cx="7652929" cy="298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P</a:t>
            </a: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roblem</a:t>
            </a:r>
          </a:p>
          <a:p>
            <a:pPr algn="l" marL="616857" indent="-308428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Large amount of review data</a:t>
            </a:r>
          </a:p>
          <a:p>
            <a:pPr algn="l" marL="616857" indent="-308428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Difficult to analyze manually</a:t>
            </a:r>
          </a:p>
          <a:p>
            <a:pPr algn="l" marL="616857" indent="-308428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Need automated sentiment classification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76325" y="6594258"/>
            <a:ext cx="14908779" cy="351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Obj</a:t>
            </a: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ectives</a:t>
            </a:r>
          </a:p>
          <a:p>
            <a:pPr algn="l" marL="620953" indent="-310477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Bui</a:t>
            </a: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ld an end-to-end NLP pipeline for FIFA 23 Steam reviews.</a:t>
            </a:r>
          </a:p>
          <a:p>
            <a:pPr algn="l" marL="620953" indent="-310477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Classify recommendation sentiment using the real Steam voted_up label.</a:t>
            </a:r>
          </a:p>
          <a:p>
            <a:pPr algn="l" marL="620953" indent="-310477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Compare VADER, traditional ML, BiLSTM, and DistilBERT.</a:t>
            </a:r>
          </a:p>
          <a:p>
            <a:pPr algn="l" marL="620953" indent="-310477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Perform opinion mining to identify common review phrases.</a:t>
            </a:r>
          </a:p>
          <a:p>
            <a:pPr algn="l" marL="620953" indent="-310477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Apply aspect-based sentiment analysis to game-related issues.</a:t>
            </a:r>
          </a:p>
          <a:p>
            <a:pPr algn="l" marL="620953" indent="-310477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Generate useful insights for player dissatisfaction and improvement areas.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85947" y="1875209"/>
            <a:ext cx="5093535" cy="50960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19344569" cy="3025201"/>
            <a:chOff x="0" y="0"/>
            <a:chExt cx="4356256" cy="681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255" cy="681253"/>
            </a:xfrm>
            <a:custGeom>
              <a:avLst/>
              <a:gdLst/>
              <a:ahLst/>
              <a:cxnLst/>
              <a:rect r="r" b="b" t="t" l="l"/>
              <a:pathLst>
                <a:path h="681253" w="4356255">
                  <a:moveTo>
                    <a:pt x="0" y="0"/>
                  </a:moveTo>
                  <a:lnTo>
                    <a:pt x="4356255" y="0"/>
                  </a:lnTo>
                  <a:lnTo>
                    <a:pt x="4356255" y="681253"/>
                  </a:lnTo>
                  <a:lnTo>
                    <a:pt x="0" y="681253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56256" cy="719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76974" y="413184"/>
            <a:ext cx="13333867" cy="14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72"/>
              </a:lnSpc>
            </a:pPr>
            <a:r>
              <a:rPr lang="en-US" sz="11638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HYPOTHESIS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127227" y="8041910"/>
            <a:ext cx="2357207" cy="2357207"/>
          </a:xfrm>
          <a:prstGeom prst="rect">
            <a:avLst/>
          </a:prstGeom>
        </p:spPr>
      </p:pic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328792" y="2722982"/>
          <a:ext cx="13630416" cy="7258050"/>
        </p:xfrm>
        <a:graphic>
          <a:graphicData uri="http://schemas.openxmlformats.org/drawingml/2006/table">
            <a:tbl>
              <a:tblPr/>
              <a:tblGrid>
                <a:gridCol w="3652654"/>
                <a:gridCol w="9977762"/>
              </a:tblGrid>
              <a:tr h="10759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Hypothesis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</a:tr>
              <a:tr h="1545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Recent playtime (last 2 weeks) significantly impacts review sentiment.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545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The number of games owned influences how critically a player evaluates a title.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545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Player sentiments exhibit volatile fluctuations and shifts over time.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545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Written sentiment partially agrees with the binary Steam voted_up recommendation label.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867462" cy="10287000"/>
            <a:chOff x="0" y="0"/>
            <a:chExt cx="1321310" cy="23165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1310" cy="2316557"/>
            </a:xfrm>
            <a:custGeom>
              <a:avLst/>
              <a:gdLst/>
              <a:ahLst/>
              <a:cxnLst/>
              <a:rect r="r" b="b" t="t" l="l"/>
              <a:pathLst>
                <a:path h="2316557" w="1321310">
                  <a:moveTo>
                    <a:pt x="0" y="0"/>
                  </a:moveTo>
                  <a:lnTo>
                    <a:pt x="1321310" y="0"/>
                  </a:lnTo>
                  <a:lnTo>
                    <a:pt x="1321310" y="2316557"/>
                  </a:lnTo>
                  <a:lnTo>
                    <a:pt x="0" y="2316557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21310" cy="2354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4118533"/>
            <a:ext cx="5826996" cy="175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9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OVERALL METHODOLOGY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6904089" y="889539"/>
            <a:ext cx="0" cy="8610369"/>
          </a:xfrm>
          <a:prstGeom prst="line">
            <a:avLst/>
          </a:prstGeom>
          <a:ln cap="flat" w="66675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459279" y="450991"/>
            <a:ext cx="877031" cy="87703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2550"/>
            </a:solidFill>
            <a:ln w="857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744233" y="633028"/>
            <a:ext cx="307123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b="true" sz="2643">
                <a:solidFill>
                  <a:srgbClr val="FAF9EC"/>
                </a:solidFill>
                <a:latin typeface="Heebo Bold"/>
                <a:ea typeface="Heebo Bold"/>
                <a:cs typeface="Heebo Bold"/>
                <a:sym typeface="Heebo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72013" y="632971"/>
            <a:ext cx="2144300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72013" y="1849132"/>
            <a:ext cx="2716545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PREPROCESSING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72013" y="3065294"/>
            <a:ext cx="6446515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EXPLORATORY DATA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72013" y="4281456"/>
            <a:ext cx="5394041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FEATURE EXTRACTION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72013" y="5497618"/>
            <a:ext cx="4247605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MODEL TRAINING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55073" y="1667096"/>
            <a:ext cx="877031" cy="87703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2550"/>
            </a:solidFill>
            <a:ln w="857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737517" y="1849132"/>
            <a:ext cx="307123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b="true" sz="2643">
                <a:solidFill>
                  <a:srgbClr val="FAF9EC"/>
                </a:solidFill>
                <a:latin typeface="Heebo Bold"/>
                <a:ea typeface="Heebo Bold"/>
                <a:cs typeface="Heebo Bold"/>
                <a:sym typeface="Heebo Bold"/>
              </a:rPr>
              <a:t>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459279" y="2883258"/>
            <a:ext cx="877031" cy="87703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2550"/>
            </a:solidFill>
            <a:ln w="857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742536" y="3065294"/>
            <a:ext cx="307123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b="true" sz="2643">
                <a:solidFill>
                  <a:srgbClr val="FAF9EC"/>
                </a:solidFill>
                <a:latin typeface="Heebo Bold"/>
                <a:ea typeface="Heebo Bold"/>
                <a:cs typeface="Heebo Bold"/>
                <a:sym typeface="Heebo Bold"/>
              </a:rPr>
              <a:t>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59279" y="4099420"/>
            <a:ext cx="877031" cy="87703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2550"/>
            </a:solidFill>
            <a:ln w="857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744233" y="4281456"/>
            <a:ext cx="307123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b="true" sz="2643">
                <a:solidFill>
                  <a:srgbClr val="FAF9EC"/>
                </a:solidFill>
                <a:latin typeface="Heebo Bold"/>
                <a:ea typeface="Heebo Bold"/>
                <a:cs typeface="Heebo Bold"/>
                <a:sym typeface="Heebo Bold"/>
              </a:rPr>
              <a:t>4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452563" y="5316359"/>
            <a:ext cx="877031" cy="87703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2550"/>
            </a:solidFill>
            <a:ln w="857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737517" y="5498395"/>
            <a:ext cx="307123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b="true" sz="2643">
                <a:solidFill>
                  <a:srgbClr val="FAF9EC"/>
                </a:solidFill>
                <a:latin typeface="Heebo Bold"/>
                <a:ea typeface="Heebo Bold"/>
                <a:cs typeface="Heebo Bold"/>
                <a:sym typeface="Heebo Bold"/>
              </a:rPr>
              <a:t>5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465574" y="6530565"/>
            <a:ext cx="877031" cy="87703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2550"/>
            </a:solidFill>
            <a:ln w="857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52563" y="7744772"/>
            <a:ext cx="877031" cy="87703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2550"/>
            </a:solidFill>
            <a:ln w="857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465574" y="8958978"/>
            <a:ext cx="877031" cy="87703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2550"/>
            </a:solidFill>
            <a:ln w="85725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6750527" y="6717264"/>
            <a:ext cx="307123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b="true" sz="2643">
                <a:solidFill>
                  <a:srgbClr val="FAF9EC"/>
                </a:solidFill>
                <a:latin typeface="Heebo Bold"/>
                <a:ea typeface="Heebo Bold"/>
                <a:cs typeface="Heebo Bold"/>
                <a:sym typeface="Heebo Bold"/>
              </a:rPr>
              <a:t>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737517" y="7931471"/>
            <a:ext cx="307123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b="true" sz="2643">
                <a:solidFill>
                  <a:srgbClr val="FAF9EC"/>
                </a:solidFill>
                <a:latin typeface="Heebo Bold"/>
                <a:ea typeface="Heebo Bold"/>
                <a:cs typeface="Heebo Bold"/>
                <a:sym typeface="Heebo Bold"/>
              </a:rPr>
              <a:t>7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37517" y="9141014"/>
            <a:ext cx="307123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b="true" sz="2643">
                <a:solidFill>
                  <a:srgbClr val="FAF9EC"/>
                </a:solidFill>
                <a:latin typeface="Heebo Bold"/>
                <a:ea typeface="Heebo Bold"/>
                <a:cs typeface="Heebo Bold"/>
                <a:sym typeface="Heebo Bold"/>
              </a:rPr>
              <a:t>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92511" y="6717264"/>
            <a:ext cx="4247605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EVALUATION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592511" y="7935072"/>
            <a:ext cx="4247605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OPINION MINING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592511" y="9141014"/>
            <a:ext cx="7364321" cy="45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ASPECT-BASED SENTIMENT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7142819" cy="2501541"/>
            <a:chOff x="0" y="0"/>
            <a:chExt cx="1608511" cy="563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8511" cy="563329"/>
            </a:xfrm>
            <a:custGeom>
              <a:avLst/>
              <a:gdLst/>
              <a:ahLst/>
              <a:cxnLst/>
              <a:rect r="r" b="b" t="t" l="l"/>
              <a:pathLst>
                <a:path h="563329" w="1608511">
                  <a:moveTo>
                    <a:pt x="0" y="0"/>
                  </a:moveTo>
                  <a:lnTo>
                    <a:pt x="1608511" y="0"/>
                  </a:lnTo>
                  <a:lnTo>
                    <a:pt x="1608511" y="563329"/>
                  </a:lnTo>
                  <a:lnTo>
                    <a:pt x="0" y="563329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08511" cy="601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84154" y="699135"/>
            <a:ext cx="5551433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6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DATASET OVERVIEW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981110" y="2282728"/>
          <a:ext cx="14743928" cy="7439025"/>
        </p:xfrm>
        <a:graphic>
          <a:graphicData uri="http://schemas.openxmlformats.org/drawingml/2006/table">
            <a:tbl>
              <a:tblPr/>
              <a:tblGrid>
                <a:gridCol w="3761159"/>
                <a:gridCol w="10982769"/>
              </a:tblGrid>
              <a:tr h="15547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Dataset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</a:tr>
              <a:tr h="15547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Kaggle (https://www.kaggle.com/datasets/noahx1/fifa-23-steam-reviews)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0823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Original Reviews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25,737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0823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Cleaned Reviews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20,050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0823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Positive Reviews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9,310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0823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Negative Reviews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10,740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21794" y="432546"/>
            <a:ext cx="12572941" cy="1297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3"/>
              </a:lnSpc>
            </a:pPr>
            <a:r>
              <a:rPr lang="en-US" sz="9201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Data Preprocessing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996764" y="513874"/>
            <a:ext cx="9264014" cy="925925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962995" y="2164345"/>
            <a:ext cx="12053287" cy="839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222" indent="-397611" lvl="1">
              <a:lnSpc>
                <a:spcPts val="5156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Case Folding: Lowercasing all text to ensure uniformity.</a:t>
            </a:r>
          </a:p>
          <a:p>
            <a:pPr algn="l" marL="795222" indent="-397611" lvl="1">
              <a:lnSpc>
                <a:spcPts val="5156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Noise Removal: Eliminating HTML tags, URLs, special characters, and digits.</a:t>
            </a:r>
          </a:p>
          <a:p>
            <a:pPr algn="l" marL="795222" indent="-397611" lvl="1">
              <a:lnSpc>
                <a:spcPts val="5156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Tokenization &amp; Stop-word Removal: Splitting sentences into words and stripping low-meaning terms (the, is, and).</a:t>
            </a:r>
          </a:p>
          <a:p>
            <a:pPr algn="l" marL="795222" indent="-397611" lvl="1">
              <a:lnSpc>
                <a:spcPts val="5156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Lemmatization: Converting variations of words to their base root forms (example: playing to play).</a:t>
            </a:r>
          </a:p>
          <a:p>
            <a:pPr algn="l" marL="795222" indent="-397611" lvl="1">
              <a:lnSpc>
                <a:spcPts val="5156"/>
              </a:lnSpc>
              <a:buFont typeface="Arial"/>
              <a:buChar char="•"/>
            </a:pPr>
            <a:r>
              <a:rPr lang="en-US" sz="36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Deduplication: Dropping duplicate review chains and empty records.</a:t>
            </a:r>
          </a:p>
          <a:p>
            <a:pPr algn="l">
              <a:lnSpc>
                <a:spcPts val="515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9246124" cy="11212735"/>
            <a:chOff x="0" y="0"/>
            <a:chExt cx="2082160" cy="25250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160" cy="2525026"/>
            </a:xfrm>
            <a:custGeom>
              <a:avLst/>
              <a:gdLst/>
              <a:ahLst/>
              <a:cxnLst/>
              <a:rect r="r" b="b" t="t" l="l"/>
              <a:pathLst>
                <a:path h="2525026" w="2082160">
                  <a:moveTo>
                    <a:pt x="0" y="0"/>
                  </a:moveTo>
                  <a:lnTo>
                    <a:pt x="2082160" y="0"/>
                  </a:lnTo>
                  <a:lnTo>
                    <a:pt x="208216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160" cy="2563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195389"/>
            <a:ext cx="6871582" cy="7062911"/>
            <a:chOff x="0" y="0"/>
            <a:chExt cx="1547430" cy="15905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7430" cy="1590516"/>
            </a:xfrm>
            <a:custGeom>
              <a:avLst/>
              <a:gdLst/>
              <a:ahLst/>
              <a:cxnLst/>
              <a:rect r="r" b="b" t="t" l="l"/>
              <a:pathLst>
                <a:path h="1590516" w="1547430">
                  <a:moveTo>
                    <a:pt x="57460" y="0"/>
                  </a:moveTo>
                  <a:lnTo>
                    <a:pt x="1489971" y="0"/>
                  </a:lnTo>
                  <a:cubicBezTo>
                    <a:pt x="1505210" y="0"/>
                    <a:pt x="1519825" y="6054"/>
                    <a:pt x="1530601" y="16830"/>
                  </a:cubicBezTo>
                  <a:cubicBezTo>
                    <a:pt x="1541376" y="27605"/>
                    <a:pt x="1547430" y="42220"/>
                    <a:pt x="1547430" y="57460"/>
                  </a:cubicBezTo>
                  <a:lnTo>
                    <a:pt x="1547430" y="1533056"/>
                  </a:lnTo>
                  <a:cubicBezTo>
                    <a:pt x="1547430" y="1564791"/>
                    <a:pt x="1521705" y="1590516"/>
                    <a:pt x="1489971" y="1590516"/>
                  </a:cubicBezTo>
                  <a:lnTo>
                    <a:pt x="57460" y="1590516"/>
                  </a:lnTo>
                  <a:cubicBezTo>
                    <a:pt x="42220" y="1590516"/>
                    <a:pt x="27605" y="1584462"/>
                    <a:pt x="16830" y="1573687"/>
                  </a:cubicBezTo>
                  <a:cubicBezTo>
                    <a:pt x="6054" y="1562911"/>
                    <a:pt x="0" y="1548296"/>
                    <a:pt x="0" y="1533056"/>
                  </a:cubicBezTo>
                  <a:lnTo>
                    <a:pt x="0" y="57460"/>
                  </a:lnTo>
                  <a:cubicBezTo>
                    <a:pt x="0" y="42220"/>
                    <a:pt x="6054" y="27605"/>
                    <a:pt x="16830" y="16830"/>
                  </a:cubicBezTo>
                  <a:cubicBezTo>
                    <a:pt x="27605" y="6054"/>
                    <a:pt x="42220" y="0"/>
                    <a:pt x="57460" y="0"/>
                  </a:cubicBezTo>
                  <a:close/>
                </a:path>
              </a:pathLst>
            </a:custGeom>
            <a:solidFill>
              <a:srgbClr val="DAE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47430" cy="1628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310083" y="0"/>
            <a:ext cx="8518210" cy="4860704"/>
          </a:xfrm>
          <a:custGeom>
            <a:avLst/>
            <a:gdLst/>
            <a:ahLst/>
            <a:cxnLst/>
            <a:rect r="r" b="b" t="t" l="l"/>
            <a:pathLst>
              <a:path h="4860704" w="8518210">
                <a:moveTo>
                  <a:pt x="0" y="0"/>
                </a:moveTo>
                <a:lnTo>
                  <a:pt x="8518210" y="0"/>
                </a:lnTo>
                <a:lnTo>
                  <a:pt x="8518210" y="4860704"/>
                </a:lnTo>
                <a:lnTo>
                  <a:pt x="0" y="4860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10083" y="5143500"/>
            <a:ext cx="8518210" cy="4860704"/>
          </a:xfrm>
          <a:custGeom>
            <a:avLst/>
            <a:gdLst/>
            <a:ahLst/>
            <a:cxnLst/>
            <a:rect r="r" b="b" t="t" l="l"/>
            <a:pathLst>
              <a:path h="4860704" w="8518210">
                <a:moveTo>
                  <a:pt x="0" y="0"/>
                </a:moveTo>
                <a:lnTo>
                  <a:pt x="8518210" y="0"/>
                </a:lnTo>
                <a:lnTo>
                  <a:pt x="8518210" y="4860704"/>
                </a:lnTo>
                <a:lnTo>
                  <a:pt x="0" y="4860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88775" y="515723"/>
            <a:ext cx="5551433" cy="150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6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EDA AND TARGET LABELING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4548" y="2382727"/>
            <a:ext cx="6539886" cy="712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Binary classification: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Uses Steam voted_up as the real supervised label.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True = Positive / Recommended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False = Negative / Not Recommended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Multi-class experiment: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Uses VADER-derived weak labels.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Positive: compound score &gt;= 0.05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Neutral: -0.05 &lt; compound score &lt; 0.05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Negative: compound score &lt;= -0.05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Important note: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Multi-class labels are not human ground truth. They are weak labels created from VADER scores.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925735"/>
            <a:ext cx="9246124" cy="2742151"/>
            <a:chOff x="0" y="0"/>
            <a:chExt cx="2082160" cy="6175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160" cy="617512"/>
            </a:xfrm>
            <a:custGeom>
              <a:avLst/>
              <a:gdLst/>
              <a:ahLst/>
              <a:cxnLst/>
              <a:rect r="r" b="b" t="t" l="l"/>
              <a:pathLst>
                <a:path h="617512" w="2082160">
                  <a:moveTo>
                    <a:pt x="0" y="0"/>
                  </a:moveTo>
                  <a:lnTo>
                    <a:pt x="2082160" y="0"/>
                  </a:lnTo>
                  <a:lnTo>
                    <a:pt x="2082160" y="617512"/>
                  </a:lnTo>
                  <a:lnTo>
                    <a:pt x="0" y="617512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160" cy="655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5702" y="3112460"/>
            <a:ext cx="8574578" cy="6050460"/>
          </a:xfrm>
          <a:custGeom>
            <a:avLst/>
            <a:gdLst/>
            <a:ahLst/>
            <a:cxnLst/>
            <a:rect r="r" b="b" t="t" l="l"/>
            <a:pathLst>
              <a:path h="6050460" w="8574578">
                <a:moveTo>
                  <a:pt x="0" y="0"/>
                </a:moveTo>
                <a:lnTo>
                  <a:pt x="8574578" y="0"/>
                </a:lnTo>
                <a:lnTo>
                  <a:pt x="8574578" y="6050459"/>
                </a:lnTo>
                <a:lnTo>
                  <a:pt x="0" y="6050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5522" y="445341"/>
            <a:ext cx="8253085" cy="5823932"/>
          </a:xfrm>
          <a:custGeom>
            <a:avLst/>
            <a:gdLst/>
            <a:ahLst/>
            <a:cxnLst/>
            <a:rect r="r" b="b" t="t" l="l"/>
            <a:pathLst>
              <a:path h="5823932" w="8253085">
                <a:moveTo>
                  <a:pt x="0" y="0"/>
                </a:moveTo>
                <a:lnTo>
                  <a:pt x="8253085" y="0"/>
                </a:lnTo>
                <a:lnTo>
                  <a:pt x="8253085" y="5823931"/>
                </a:lnTo>
                <a:lnTo>
                  <a:pt x="0" y="58239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57274" y="123825"/>
            <a:ext cx="8730726" cy="150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6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SENTIMENT DISTRIBUTION COMPARISON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18844845" cy="2283248"/>
            <a:chOff x="0" y="0"/>
            <a:chExt cx="4243721" cy="514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3721" cy="514171"/>
            </a:xfrm>
            <a:custGeom>
              <a:avLst/>
              <a:gdLst/>
              <a:ahLst/>
              <a:cxnLst/>
              <a:rect r="r" b="b" t="t" l="l"/>
              <a:pathLst>
                <a:path h="514171" w="4243721">
                  <a:moveTo>
                    <a:pt x="0" y="0"/>
                  </a:moveTo>
                  <a:lnTo>
                    <a:pt x="4243721" y="0"/>
                  </a:lnTo>
                  <a:lnTo>
                    <a:pt x="4243721" y="514171"/>
                  </a:lnTo>
                  <a:lnTo>
                    <a:pt x="0" y="514171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43721" cy="55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9139" y="429760"/>
            <a:ext cx="16890161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6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FEATURE ENGINEERING &amp; MACHINE LEARNING APPROACHES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620667" y="2015034"/>
          <a:ext cx="10479955" cy="7852024"/>
        </p:xfrm>
        <a:graphic>
          <a:graphicData uri="http://schemas.openxmlformats.org/drawingml/2006/table">
            <a:tbl>
              <a:tblPr/>
              <a:tblGrid>
                <a:gridCol w="4086279"/>
                <a:gridCol w="6393675"/>
              </a:tblGrid>
              <a:tr h="1447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ML 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Explanation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</a:tr>
              <a:tr h="15423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Serves as a robust baseline classifier for sparse data.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7770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Linear Support Vector Machine (SVM)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Maximizes decision boundaries in high-dimensional text space.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5423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Ensemble of decision trees checking non-linear token splits.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5423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Multinomial Naïve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Fast probabilistic baseline tracking conditional text frequencies.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369139" y="2367477"/>
            <a:ext cx="7005429" cy="6661453"/>
            <a:chOff x="0" y="0"/>
            <a:chExt cx="1577571" cy="1500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77571" cy="1500111"/>
            </a:xfrm>
            <a:custGeom>
              <a:avLst/>
              <a:gdLst/>
              <a:ahLst/>
              <a:cxnLst/>
              <a:rect r="r" b="b" t="t" l="l"/>
              <a:pathLst>
                <a:path h="1500111" w="1577571">
                  <a:moveTo>
                    <a:pt x="56362" y="0"/>
                  </a:moveTo>
                  <a:lnTo>
                    <a:pt x="1521210" y="0"/>
                  </a:lnTo>
                  <a:cubicBezTo>
                    <a:pt x="1536158" y="0"/>
                    <a:pt x="1550494" y="5938"/>
                    <a:pt x="1561064" y="16508"/>
                  </a:cubicBezTo>
                  <a:cubicBezTo>
                    <a:pt x="1571633" y="27078"/>
                    <a:pt x="1577571" y="41414"/>
                    <a:pt x="1577571" y="56362"/>
                  </a:cubicBezTo>
                  <a:lnTo>
                    <a:pt x="1577571" y="1443749"/>
                  </a:lnTo>
                  <a:cubicBezTo>
                    <a:pt x="1577571" y="1458697"/>
                    <a:pt x="1571633" y="1473033"/>
                    <a:pt x="1561064" y="1483603"/>
                  </a:cubicBezTo>
                  <a:cubicBezTo>
                    <a:pt x="1550494" y="1494172"/>
                    <a:pt x="1536158" y="1500111"/>
                    <a:pt x="1521210" y="1500111"/>
                  </a:cubicBezTo>
                  <a:lnTo>
                    <a:pt x="56362" y="1500111"/>
                  </a:lnTo>
                  <a:cubicBezTo>
                    <a:pt x="41414" y="1500111"/>
                    <a:pt x="27078" y="1494172"/>
                    <a:pt x="16508" y="1483603"/>
                  </a:cubicBezTo>
                  <a:cubicBezTo>
                    <a:pt x="5938" y="1473033"/>
                    <a:pt x="0" y="1458697"/>
                    <a:pt x="0" y="1443749"/>
                  </a:cubicBezTo>
                  <a:lnTo>
                    <a:pt x="0" y="56362"/>
                  </a:lnTo>
                  <a:cubicBezTo>
                    <a:pt x="0" y="41414"/>
                    <a:pt x="5938" y="27078"/>
                    <a:pt x="16508" y="16508"/>
                  </a:cubicBezTo>
                  <a:cubicBezTo>
                    <a:pt x="27078" y="5938"/>
                    <a:pt x="41414" y="0"/>
                    <a:pt x="56362" y="0"/>
                  </a:cubicBez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77571" cy="1538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5520" y="3038328"/>
            <a:ext cx="6220269" cy="562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7"/>
              </a:lnSpc>
            </a:pPr>
            <a:r>
              <a:rPr lang="en-US" sz="289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Feature Extraction:</a:t>
            </a:r>
          </a:p>
          <a:p>
            <a:pPr algn="just" marL="625651" indent="-312825" lvl="1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TF-IDF was used for traditional ML models.</a:t>
            </a:r>
          </a:p>
          <a:p>
            <a:pPr algn="just" marL="625651" indent="-312825" lvl="1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TF-IDF gives higher weight to important review terms.</a:t>
            </a:r>
          </a:p>
          <a:p>
            <a:pPr algn="just" marL="625651" indent="-312825" lvl="1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BiLSTM used learned word embeddings.</a:t>
            </a:r>
          </a:p>
          <a:p>
            <a:pPr algn="just" marL="625651" indent="-312825" lvl="1">
              <a:lnSpc>
                <a:spcPts val="4057"/>
              </a:lnSpc>
              <a:buFont typeface="Arial"/>
              <a:buChar char="•"/>
            </a:pPr>
            <a:r>
              <a:rPr lang="en-US" sz="289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DistilBERT used contextual embeddings from a pretrained transformer.</a:t>
            </a:r>
          </a:p>
          <a:p>
            <a:pPr algn="just">
              <a:lnSpc>
                <a:spcPts val="405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9332540" cy="7522981"/>
            <a:chOff x="0" y="0"/>
            <a:chExt cx="2101620" cy="1694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1620" cy="1694120"/>
            </a:xfrm>
            <a:custGeom>
              <a:avLst/>
              <a:gdLst/>
              <a:ahLst/>
              <a:cxnLst/>
              <a:rect r="r" b="b" t="t" l="l"/>
              <a:pathLst>
                <a:path h="1694120" w="2101620">
                  <a:moveTo>
                    <a:pt x="0" y="0"/>
                  </a:moveTo>
                  <a:lnTo>
                    <a:pt x="2101620" y="0"/>
                  </a:lnTo>
                  <a:lnTo>
                    <a:pt x="2101620" y="1694120"/>
                  </a:lnTo>
                  <a:lnTo>
                    <a:pt x="0" y="1694120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01620" cy="1732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3874" y="1979248"/>
            <a:ext cx="7984409" cy="4407017"/>
            <a:chOff x="0" y="0"/>
            <a:chExt cx="1798031" cy="9924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8031" cy="992428"/>
            </a:xfrm>
            <a:custGeom>
              <a:avLst/>
              <a:gdLst/>
              <a:ahLst/>
              <a:cxnLst/>
              <a:rect r="r" b="b" t="t" l="l"/>
              <a:pathLst>
                <a:path h="992428" w="1798031">
                  <a:moveTo>
                    <a:pt x="49451" y="0"/>
                  </a:moveTo>
                  <a:lnTo>
                    <a:pt x="1748580" y="0"/>
                  </a:lnTo>
                  <a:cubicBezTo>
                    <a:pt x="1775891" y="0"/>
                    <a:pt x="1798031" y="22140"/>
                    <a:pt x="1798031" y="49451"/>
                  </a:cubicBezTo>
                  <a:lnTo>
                    <a:pt x="1798031" y="942977"/>
                  </a:lnTo>
                  <a:cubicBezTo>
                    <a:pt x="1798031" y="956092"/>
                    <a:pt x="1792821" y="968670"/>
                    <a:pt x="1783547" y="977944"/>
                  </a:cubicBezTo>
                  <a:cubicBezTo>
                    <a:pt x="1774273" y="987218"/>
                    <a:pt x="1761695" y="992428"/>
                    <a:pt x="1748580" y="992428"/>
                  </a:cubicBezTo>
                  <a:lnTo>
                    <a:pt x="49451" y="992428"/>
                  </a:lnTo>
                  <a:cubicBezTo>
                    <a:pt x="22140" y="992428"/>
                    <a:pt x="0" y="970288"/>
                    <a:pt x="0" y="942977"/>
                  </a:cubicBezTo>
                  <a:lnTo>
                    <a:pt x="0" y="49451"/>
                  </a:lnTo>
                  <a:cubicBezTo>
                    <a:pt x="0" y="22140"/>
                    <a:pt x="22140" y="0"/>
                    <a:pt x="49451" y="0"/>
                  </a:cubicBezTo>
                  <a:close/>
                </a:path>
              </a:pathLst>
            </a:custGeom>
            <a:solidFill>
              <a:srgbClr val="DAE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98031" cy="1030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45675" y="211940"/>
            <a:ext cx="7496424" cy="9863120"/>
          </a:xfrm>
          <a:custGeom>
            <a:avLst/>
            <a:gdLst/>
            <a:ahLst/>
            <a:cxnLst/>
            <a:rect r="r" b="b" t="t" l="l"/>
            <a:pathLst>
              <a:path h="9863120" w="7496424">
                <a:moveTo>
                  <a:pt x="0" y="0"/>
                </a:moveTo>
                <a:lnTo>
                  <a:pt x="7496424" y="0"/>
                </a:lnTo>
                <a:lnTo>
                  <a:pt x="7496424" y="9863120"/>
                </a:lnTo>
                <a:lnTo>
                  <a:pt x="0" y="9863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3874" y="337185"/>
            <a:ext cx="8299014" cy="150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6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DEEP LEARNING &amp; PRETRAINED TRANSFORMER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8531" y="2074469"/>
            <a:ext cx="7719751" cy="452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625" indent="-278812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Bidirectional LSTM (BiLSTM):</a:t>
            </a:r>
          </a:p>
          <a:p>
            <a:pPr algn="l" marL="1115250" indent="-371750" lvl="2">
              <a:lnSpc>
                <a:spcPts val="3615"/>
              </a:lnSpc>
              <a:buFont typeface="Arial"/>
              <a:buChar char="⚬"/>
            </a:pPr>
            <a:r>
              <a:rPr lang="en-US" sz="2582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Built u</a:t>
            </a:r>
            <a:r>
              <a:rPr lang="en-US" sz="2582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sing a dynamic TextVectorization and Dense Word Embedding layer.</a:t>
            </a:r>
          </a:p>
          <a:p>
            <a:pPr algn="l" marL="1115250" indent="-371750" lvl="2">
              <a:lnSpc>
                <a:spcPts val="3615"/>
              </a:lnSpc>
              <a:buFont typeface="Arial"/>
              <a:buChar char="⚬"/>
            </a:pPr>
            <a:r>
              <a:rPr lang="en-US" sz="2582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Processes reviews bidirectionally to capture past and future contextual token sequences.</a:t>
            </a:r>
          </a:p>
          <a:p>
            <a:pPr algn="l" marL="1115250" indent="-371750" lvl="2">
              <a:lnSpc>
                <a:spcPts val="3615"/>
              </a:lnSpc>
              <a:spcBef>
                <a:spcPct val="0"/>
              </a:spcBef>
              <a:buFont typeface="Arial"/>
              <a:buChar char="⚬"/>
            </a:pPr>
            <a:r>
              <a:rPr lang="en-US" sz="2582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Regularized using Dropout layers and early-stopping mechanisms to prevent model overfitting.</a:t>
            </a:r>
          </a:p>
          <a:p>
            <a:pPr algn="l">
              <a:lnSpc>
                <a:spcPts val="36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68417" y="0"/>
            <a:ext cx="9246124" cy="11212735"/>
            <a:chOff x="0" y="0"/>
            <a:chExt cx="2082160" cy="25250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160" cy="2525026"/>
            </a:xfrm>
            <a:custGeom>
              <a:avLst/>
              <a:gdLst/>
              <a:ahLst/>
              <a:cxnLst/>
              <a:rect r="r" b="b" t="t" l="l"/>
              <a:pathLst>
                <a:path h="2525026" w="2082160">
                  <a:moveTo>
                    <a:pt x="0" y="0"/>
                  </a:moveTo>
                  <a:lnTo>
                    <a:pt x="2082160" y="0"/>
                  </a:lnTo>
                  <a:lnTo>
                    <a:pt x="208216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160" cy="2563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13874" y="1979248"/>
            <a:ext cx="8146046" cy="3664098"/>
            <a:chOff x="0" y="0"/>
            <a:chExt cx="1834430" cy="825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4430" cy="825128"/>
            </a:xfrm>
            <a:custGeom>
              <a:avLst/>
              <a:gdLst/>
              <a:ahLst/>
              <a:cxnLst/>
              <a:rect r="r" b="b" t="t" l="l"/>
              <a:pathLst>
                <a:path h="825128" w="1834430">
                  <a:moveTo>
                    <a:pt x="48470" y="0"/>
                  </a:moveTo>
                  <a:lnTo>
                    <a:pt x="1785960" y="0"/>
                  </a:lnTo>
                  <a:cubicBezTo>
                    <a:pt x="1798815" y="0"/>
                    <a:pt x="1811144" y="5107"/>
                    <a:pt x="1820234" y="14197"/>
                  </a:cubicBezTo>
                  <a:cubicBezTo>
                    <a:pt x="1829323" y="23286"/>
                    <a:pt x="1834430" y="35615"/>
                    <a:pt x="1834430" y="48470"/>
                  </a:cubicBezTo>
                  <a:lnTo>
                    <a:pt x="1834430" y="776658"/>
                  </a:lnTo>
                  <a:cubicBezTo>
                    <a:pt x="1834430" y="803428"/>
                    <a:pt x="1812729" y="825128"/>
                    <a:pt x="1785960" y="825128"/>
                  </a:cubicBezTo>
                  <a:lnTo>
                    <a:pt x="48470" y="825128"/>
                  </a:lnTo>
                  <a:cubicBezTo>
                    <a:pt x="35615" y="825128"/>
                    <a:pt x="23286" y="820022"/>
                    <a:pt x="14197" y="810932"/>
                  </a:cubicBezTo>
                  <a:cubicBezTo>
                    <a:pt x="5107" y="801842"/>
                    <a:pt x="0" y="789513"/>
                    <a:pt x="0" y="776658"/>
                  </a:cubicBezTo>
                  <a:lnTo>
                    <a:pt x="0" y="48470"/>
                  </a:lnTo>
                  <a:cubicBezTo>
                    <a:pt x="0" y="35615"/>
                    <a:pt x="5107" y="23286"/>
                    <a:pt x="14197" y="14197"/>
                  </a:cubicBezTo>
                  <a:cubicBezTo>
                    <a:pt x="23286" y="5107"/>
                    <a:pt x="35615" y="0"/>
                    <a:pt x="48470" y="0"/>
                  </a:cubicBezTo>
                  <a:close/>
                </a:path>
              </a:pathLst>
            </a:custGeom>
            <a:solidFill>
              <a:srgbClr val="DAE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34430" cy="863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13874" y="331103"/>
            <a:ext cx="8159016" cy="8927197"/>
          </a:xfrm>
          <a:custGeom>
            <a:avLst/>
            <a:gdLst/>
            <a:ahLst/>
            <a:cxnLst/>
            <a:rect r="r" b="b" t="t" l="l"/>
            <a:pathLst>
              <a:path h="8927197" w="8159016">
                <a:moveTo>
                  <a:pt x="0" y="0"/>
                </a:moveTo>
                <a:lnTo>
                  <a:pt x="8159016" y="0"/>
                </a:lnTo>
                <a:lnTo>
                  <a:pt x="8159016" y="8927197"/>
                </a:lnTo>
                <a:lnTo>
                  <a:pt x="0" y="8927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88986" y="337185"/>
            <a:ext cx="8299014" cy="150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6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PRETRAINED TRANSFORMER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22078" y="2055448"/>
            <a:ext cx="7322034" cy="730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5"/>
              </a:lnSpc>
            </a:pPr>
            <a:r>
              <a:rPr lang="en-US" sz="258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DistilBERT (Pretrained Benchmark):</a:t>
            </a:r>
          </a:p>
          <a:p>
            <a:pPr algn="just" marL="557624" indent="-278812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Used as a pretrained transformer benchmark.</a:t>
            </a:r>
          </a:p>
          <a:p>
            <a:pPr algn="just" marL="557624" indent="-278812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Applied through the Hugging Face sentiment pipeline.</a:t>
            </a:r>
          </a:p>
          <a:p>
            <a:pPr algn="just" marL="557624" indent="-278812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Not fine-tuned on FIFA 23 Steam reviews.</a:t>
            </a:r>
          </a:p>
          <a:p>
            <a:pPr algn="just" marL="557624" indent="-278812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Compared against the real Steam voted_up labels.</a:t>
            </a:r>
          </a:p>
          <a:p>
            <a:pPr algn="just" marL="557624" indent="-278812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F1-score = 0.6999</a:t>
            </a:r>
          </a:p>
          <a:p>
            <a:pPr algn="just">
              <a:lnSpc>
                <a:spcPts val="3615"/>
              </a:lnSpc>
            </a:pPr>
          </a:p>
          <a:p>
            <a:pPr algn="just">
              <a:lnSpc>
                <a:spcPts val="3615"/>
              </a:lnSpc>
            </a:pPr>
            <a:r>
              <a:rPr lang="en-US" sz="258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Why performance was lower:</a:t>
            </a:r>
          </a:p>
          <a:p>
            <a:pPr algn="just" marL="557624" indent="-278812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Gaming slang</a:t>
            </a:r>
          </a:p>
          <a:p>
            <a:pPr algn="just" marL="557624" indent="-278812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Sarcasm and short reviews</a:t>
            </a:r>
          </a:p>
          <a:p>
            <a:pPr algn="just" marL="557624" indent="-278812" lvl="1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Mixed opinions</a:t>
            </a:r>
          </a:p>
          <a:p>
            <a:pPr algn="just" marL="557624" indent="-278812" lvl="1">
              <a:lnSpc>
                <a:spcPts val="3615"/>
              </a:lnSpc>
              <a:spcBef>
                <a:spcPct val="0"/>
              </a:spcBef>
              <a:buFont typeface="Arial"/>
              <a:buChar char="•"/>
            </a:pPr>
            <a:r>
              <a:rPr lang="en-US" sz="258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Steam recommendation behaviour differs from sentence-level sentiment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7142819" cy="2501541"/>
            <a:chOff x="0" y="0"/>
            <a:chExt cx="1608511" cy="563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8511" cy="563329"/>
            </a:xfrm>
            <a:custGeom>
              <a:avLst/>
              <a:gdLst/>
              <a:ahLst/>
              <a:cxnLst/>
              <a:rect r="r" b="b" t="t" l="l"/>
              <a:pathLst>
                <a:path h="563329" w="1608511">
                  <a:moveTo>
                    <a:pt x="0" y="0"/>
                  </a:moveTo>
                  <a:lnTo>
                    <a:pt x="1608511" y="0"/>
                  </a:lnTo>
                  <a:lnTo>
                    <a:pt x="1608511" y="563329"/>
                  </a:lnTo>
                  <a:lnTo>
                    <a:pt x="0" y="563329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08511" cy="601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59467" y="2105886"/>
          <a:ext cx="17076685" cy="7722488"/>
        </p:xfrm>
        <a:graphic>
          <a:graphicData uri="http://schemas.openxmlformats.org/drawingml/2006/table">
            <a:tbl>
              <a:tblPr/>
              <a:tblGrid>
                <a:gridCol w="2195877"/>
                <a:gridCol w="3720202"/>
                <a:gridCol w="3720202"/>
                <a:gridCol w="3720202"/>
                <a:gridCol w="3720202"/>
              </a:tblGrid>
              <a:tr h="9653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</a:tr>
              <a:tr h="1206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0.8566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0.8534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0.8468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9653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Linear 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0.8193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0.8448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0.8318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206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BiLSTM Neural Network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0.8479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0.7997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0.8231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9653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0.8155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0.7802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0.8389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0.8085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206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Multinomial 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0.7793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0.8621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0.6246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0.7244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206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Transformer DistilBERT SST-2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0.7565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0.8184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0.6114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0.6999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84154" y="699135"/>
            <a:ext cx="5551433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6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MODEL EVALUATION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8500407" cy="2501541"/>
            <a:chOff x="0" y="0"/>
            <a:chExt cx="1914230" cy="563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4230" cy="563329"/>
            </a:xfrm>
            <a:custGeom>
              <a:avLst/>
              <a:gdLst/>
              <a:ahLst/>
              <a:cxnLst/>
              <a:rect r="r" b="b" t="t" l="l"/>
              <a:pathLst>
                <a:path h="563329" w="1914230">
                  <a:moveTo>
                    <a:pt x="0" y="0"/>
                  </a:moveTo>
                  <a:lnTo>
                    <a:pt x="1914230" y="0"/>
                  </a:lnTo>
                  <a:lnTo>
                    <a:pt x="1914230" y="563329"/>
                  </a:lnTo>
                  <a:lnTo>
                    <a:pt x="0" y="563329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14230" cy="601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05658" y="2323519"/>
          <a:ext cx="17076685" cy="6949332"/>
        </p:xfrm>
        <a:graphic>
          <a:graphicData uri="http://schemas.openxmlformats.org/drawingml/2006/table">
            <a:tbl>
              <a:tblPr/>
              <a:tblGrid>
                <a:gridCol w="2807498"/>
                <a:gridCol w="4756396"/>
                <a:gridCol w="4756396"/>
                <a:gridCol w="4756396"/>
              </a:tblGrid>
              <a:tr h="9557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Hypothesis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Main Result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Interpretation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</a:tr>
              <a:tr h="14102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H1: Higher recent playtime relates to positive reviews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Mann-Whitney 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 = 5.921e-121; positive median = 5.07 hours; negative median = 0.32 hours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Supported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4102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H2: More games owned relates to negative reviews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Mann-Whitney 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 = 7.634e-187; positive median = 16; negative median = 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Supported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1947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H3: Sentiment changes over 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Chi-square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p=7.256e-43; sentiment distribution changes significantly over time.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Supported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9782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H4: Written sentiment partially agrees with voted_up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VADER agreement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VADER binary sentiment partially agrees with voted_up for 69.36% of cleaned reviews. Mismatches may indicate sarcasm, slang, short text, or mixed opinions.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Partially supported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84154" y="699135"/>
            <a:ext cx="7463529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6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HYPOTHESIS VERIFICATION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31271" y="6034226"/>
            <a:ext cx="6871582" cy="2776833"/>
            <a:chOff x="0" y="0"/>
            <a:chExt cx="1547430" cy="6253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7430" cy="625323"/>
            </a:xfrm>
            <a:custGeom>
              <a:avLst/>
              <a:gdLst/>
              <a:ahLst/>
              <a:cxnLst/>
              <a:rect r="r" b="b" t="t" l="l"/>
              <a:pathLst>
                <a:path h="625323" w="1547430">
                  <a:moveTo>
                    <a:pt x="57460" y="0"/>
                  </a:moveTo>
                  <a:lnTo>
                    <a:pt x="1489971" y="0"/>
                  </a:lnTo>
                  <a:cubicBezTo>
                    <a:pt x="1505210" y="0"/>
                    <a:pt x="1519825" y="6054"/>
                    <a:pt x="1530601" y="16830"/>
                  </a:cubicBezTo>
                  <a:cubicBezTo>
                    <a:pt x="1541376" y="27605"/>
                    <a:pt x="1547430" y="42220"/>
                    <a:pt x="1547430" y="57460"/>
                  </a:cubicBezTo>
                  <a:lnTo>
                    <a:pt x="1547430" y="567863"/>
                  </a:lnTo>
                  <a:cubicBezTo>
                    <a:pt x="1547430" y="599597"/>
                    <a:pt x="1521705" y="625323"/>
                    <a:pt x="1489971" y="625323"/>
                  </a:cubicBezTo>
                  <a:lnTo>
                    <a:pt x="57460" y="625323"/>
                  </a:lnTo>
                  <a:cubicBezTo>
                    <a:pt x="42220" y="625323"/>
                    <a:pt x="27605" y="619269"/>
                    <a:pt x="16830" y="608493"/>
                  </a:cubicBezTo>
                  <a:cubicBezTo>
                    <a:pt x="6054" y="597717"/>
                    <a:pt x="0" y="583102"/>
                    <a:pt x="0" y="567863"/>
                  </a:cubicBezTo>
                  <a:lnTo>
                    <a:pt x="0" y="57460"/>
                  </a:lnTo>
                  <a:cubicBezTo>
                    <a:pt x="0" y="42220"/>
                    <a:pt x="6054" y="27605"/>
                    <a:pt x="16830" y="16830"/>
                  </a:cubicBezTo>
                  <a:cubicBezTo>
                    <a:pt x="27605" y="6054"/>
                    <a:pt x="42220" y="0"/>
                    <a:pt x="57460" y="0"/>
                  </a:cubicBezTo>
                  <a:close/>
                </a:path>
              </a:pathLst>
            </a:custGeom>
            <a:solidFill>
              <a:srgbClr val="DAE9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7430" cy="663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02124" y="-925735"/>
            <a:ext cx="8014595" cy="2120330"/>
            <a:chOff x="0" y="0"/>
            <a:chExt cx="1804828" cy="4774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04828" cy="477483"/>
            </a:xfrm>
            <a:custGeom>
              <a:avLst/>
              <a:gdLst/>
              <a:ahLst/>
              <a:cxnLst/>
              <a:rect r="r" b="b" t="t" l="l"/>
              <a:pathLst>
                <a:path h="477483" w="1804828">
                  <a:moveTo>
                    <a:pt x="0" y="0"/>
                  </a:moveTo>
                  <a:lnTo>
                    <a:pt x="1804828" y="0"/>
                  </a:lnTo>
                  <a:lnTo>
                    <a:pt x="1804828" y="477483"/>
                  </a:lnTo>
                  <a:lnTo>
                    <a:pt x="0" y="477483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04828" cy="515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169380" y="1403793"/>
            <a:ext cx="9405430" cy="7926847"/>
          </a:xfrm>
          <a:custGeom>
            <a:avLst/>
            <a:gdLst/>
            <a:ahLst/>
            <a:cxnLst/>
            <a:rect r="r" b="b" t="t" l="l"/>
            <a:pathLst>
              <a:path h="7926847" w="9405430">
                <a:moveTo>
                  <a:pt x="0" y="0"/>
                </a:moveTo>
                <a:lnTo>
                  <a:pt x="9405430" y="0"/>
                </a:lnTo>
                <a:lnTo>
                  <a:pt x="9405430" y="7926846"/>
                </a:lnTo>
                <a:lnTo>
                  <a:pt x="0" y="7926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251259"/>
            <a:ext cx="7912471" cy="68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2"/>
              </a:lnSpc>
            </a:pPr>
            <a:r>
              <a:rPr lang="en-US" sz="5232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VADER BASELINE &amp; AGREEMENT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5230" y="2616396"/>
            <a:ext cx="6539886" cy="544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VADER was used as the lexicon-based sentiment baseline.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</a:t>
            </a: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 gives a compound sentiment score for each review.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For H4, VADER was converted into binary sen</a:t>
            </a: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timent:</a:t>
            </a:r>
          </a:p>
          <a:p>
            <a:pPr algn="just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compound &gt;= 0</a:t>
            </a: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 = Positive</a:t>
            </a:r>
          </a:p>
          <a:p>
            <a:pPr algn="just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compound &lt; 0 = Negative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Binary VADER agreement with S</a:t>
            </a: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team voted_up: 69.36%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Th</a:t>
            </a: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is means written sentiment and Steam recommendation are related, but not identical.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124" y="-925735"/>
            <a:ext cx="8014595" cy="2120330"/>
            <a:chOff x="0" y="0"/>
            <a:chExt cx="1804828" cy="4774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4828" cy="477483"/>
            </a:xfrm>
            <a:custGeom>
              <a:avLst/>
              <a:gdLst/>
              <a:ahLst/>
              <a:cxnLst/>
              <a:rect r="r" b="b" t="t" l="l"/>
              <a:pathLst>
                <a:path h="477483" w="1804828">
                  <a:moveTo>
                    <a:pt x="0" y="0"/>
                  </a:moveTo>
                  <a:lnTo>
                    <a:pt x="1804828" y="0"/>
                  </a:lnTo>
                  <a:lnTo>
                    <a:pt x="1804828" y="477483"/>
                  </a:lnTo>
                  <a:lnTo>
                    <a:pt x="0" y="477483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04828" cy="515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65390" y="5652758"/>
            <a:ext cx="11444984" cy="3698161"/>
          </a:xfrm>
          <a:custGeom>
            <a:avLst/>
            <a:gdLst/>
            <a:ahLst/>
            <a:cxnLst/>
            <a:rect r="r" b="b" t="t" l="l"/>
            <a:pathLst>
              <a:path h="3698161" w="11444984">
                <a:moveTo>
                  <a:pt x="0" y="0"/>
                </a:moveTo>
                <a:lnTo>
                  <a:pt x="11444985" y="0"/>
                </a:lnTo>
                <a:lnTo>
                  <a:pt x="11444985" y="3698160"/>
                </a:lnTo>
                <a:lnTo>
                  <a:pt x="0" y="369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-9525"/>
            <a:ext cx="7377710" cy="1322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2"/>
              </a:lnSpc>
            </a:pPr>
            <a:r>
              <a:rPr lang="en-US" sz="5232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CROSS-VALI</a:t>
            </a:r>
            <a:r>
              <a:rPr lang="en-US" sz="5232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DATION &amp; OVERFITTING CHECK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9092" y="1873252"/>
            <a:ext cx="5819305" cy="670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5-fold stratified cross-validation: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Logistic Regression mean CV F1 = 0.8402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Linear</a:t>
            </a: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 SVM mean CV F1 = 0.8356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Naive Bayes mean CV F1 = 0.7087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Model reliability: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Low standard deviations show stable performance.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BiLSTM</a:t>
            </a: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 used dropout and early s</a:t>
            </a: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topping.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SMOTE</a:t>
            </a: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 was not used because class imbalance was mod</a:t>
            </a: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erate.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Grid Search was not used; fixed hyperparameters were used to keep Colab runtime manageable.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413165" y="1447800"/>
          <a:ext cx="7675491" cy="3695700"/>
        </p:xfrm>
        <a:graphic>
          <a:graphicData uri="http://schemas.openxmlformats.org/drawingml/2006/table">
            <a:tbl>
              <a:tblPr/>
              <a:tblGrid>
                <a:gridCol w="2703896"/>
                <a:gridCol w="2370375"/>
                <a:gridCol w="2601221"/>
              </a:tblGrid>
              <a:tr h="852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Mean CV 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Standard Deviation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</a:tr>
              <a:tr h="852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0.8402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0.0062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8520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Linear 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0.0046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1394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Multinomial 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0.7087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0.0105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8224703" cy="1833510"/>
            <a:chOff x="0" y="0"/>
            <a:chExt cx="1852143" cy="412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2143" cy="412893"/>
            </a:xfrm>
            <a:custGeom>
              <a:avLst/>
              <a:gdLst/>
              <a:ahLst/>
              <a:cxnLst/>
              <a:rect r="r" b="b" t="t" l="l"/>
              <a:pathLst>
                <a:path h="412893" w="1852143">
                  <a:moveTo>
                    <a:pt x="0" y="0"/>
                  </a:moveTo>
                  <a:lnTo>
                    <a:pt x="1852143" y="0"/>
                  </a:lnTo>
                  <a:lnTo>
                    <a:pt x="1852143" y="412893"/>
                  </a:lnTo>
                  <a:lnTo>
                    <a:pt x="0" y="412893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52143" cy="450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3335" y="420573"/>
            <a:ext cx="7490096" cy="55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sz="4267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ASPECT-BASED SENTIMENT ANALYSIS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020217" y="1475985"/>
          <a:ext cx="12239083" cy="7335031"/>
        </p:xfrm>
        <a:graphic>
          <a:graphicData uri="http://schemas.openxmlformats.org/drawingml/2006/table">
            <a:tbl>
              <a:tblPr/>
              <a:tblGrid>
                <a:gridCol w="2525765"/>
                <a:gridCol w="3199079"/>
                <a:gridCol w="3199079"/>
                <a:gridCol w="3315160"/>
              </a:tblGrid>
              <a:tr h="8785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Aspect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Total Mentions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Positive 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Negative 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</a:tr>
              <a:tr h="8785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Gameplay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2,197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33.96%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66.04%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8785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Graphics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752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56.25%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43.75%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1748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Performance/Bugs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2,241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19.95%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80.05%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1748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Servers/Online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721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16.78%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83.22%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1748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Career/Content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1,769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35.56%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64.44%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1748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Price/Monetization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4,207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15.78%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84.22%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373335" y="1932766"/>
            <a:ext cx="4121127" cy="46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Ma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 nega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tive as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ct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Price/M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o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netizati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o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n: 84.22%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ne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ga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tiv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rver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/Online: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83.22% ne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ga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tiv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Perfo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r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manc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/Bugs: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80.05% ne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ga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tiv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Mos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 pos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it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iv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 a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sp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: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Graphics: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56.25% positiv</a:t>
            </a: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124" y="-925735"/>
            <a:ext cx="8014595" cy="2120330"/>
            <a:chOff x="0" y="0"/>
            <a:chExt cx="1804828" cy="4774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4828" cy="477483"/>
            </a:xfrm>
            <a:custGeom>
              <a:avLst/>
              <a:gdLst/>
              <a:ahLst/>
              <a:cxnLst/>
              <a:rect r="r" b="b" t="t" l="l"/>
              <a:pathLst>
                <a:path h="477483" w="1804828">
                  <a:moveTo>
                    <a:pt x="0" y="0"/>
                  </a:moveTo>
                  <a:lnTo>
                    <a:pt x="1804828" y="0"/>
                  </a:lnTo>
                  <a:lnTo>
                    <a:pt x="1804828" y="477483"/>
                  </a:lnTo>
                  <a:lnTo>
                    <a:pt x="0" y="477483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04828" cy="515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4461786"/>
            <a:ext cx="8115300" cy="4741288"/>
          </a:xfrm>
          <a:custGeom>
            <a:avLst/>
            <a:gdLst/>
            <a:ahLst/>
            <a:cxnLst/>
            <a:rect r="r" b="b" t="t" l="l"/>
            <a:pathLst>
              <a:path h="4741288" w="8115300">
                <a:moveTo>
                  <a:pt x="0" y="0"/>
                </a:moveTo>
                <a:lnTo>
                  <a:pt x="8115300" y="0"/>
                </a:lnTo>
                <a:lnTo>
                  <a:pt x="8115300" y="4741289"/>
                </a:lnTo>
                <a:lnTo>
                  <a:pt x="0" y="4741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6" r="0" b="-70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0200" y="4461786"/>
            <a:ext cx="8095381" cy="4796514"/>
          </a:xfrm>
          <a:custGeom>
            <a:avLst/>
            <a:gdLst/>
            <a:ahLst/>
            <a:cxnLst/>
            <a:rect r="r" b="b" t="t" l="l"/>
            <a:pathLst>
              <a:path h="4796514" w="8095381">
                <a:moveTo>
                  <a:pt x="0" y="0"/>
                </a:moveTo>
                <a:lnTo>
                  <a:pt x="8095381" y="0"/>
                </a:lnTo>
                <a:lnTo>
                  <a:pt x="8095381" y="4796514"/>
                </a:lnTo>
                <a:lnTo>
                  <a:pt x="0" y="4796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251259"/>
            <a:ext cx="7912471" cy="68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2"/>
              </a:lnSpc>
            </a:pPr>
            <a:r>
              <a:rPr lang="en-US" sz="5232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OPINION MINING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1775" y="9334500"/>
            <a:ext cx="1436445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Positive reviews focus on enjoyment and game modes. Negative reviews focus more on launch issues, anti-cheat, bugs, and playability problems.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6130" y="1426804"/>
            <a:ext cx="3678436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Positive opinion phrases: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good game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best game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great game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ultimate team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next gen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62643" y="1302979"/>
            <a:ext cx="4215905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Negative opinion phrases: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launch game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anti cheat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worst game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bad game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fix game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cant play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18894197" cy="1833510"/>
            <a:chOff x="0" y="0"/>
            <a:chExt cx="4254835" cy="412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54835" cy="412893"/>
            </a:xfrm>
            <a:custGeom>
              <a:avLst/>
              <a:gdLst/>
              <a:ahLst/>
              <a:cxnLst/>
              <a:rect r="r" b="b" t="t" l="l"/>
              <a:pathLst>
                <a:path h="412893" w="4254835">
                  <a:moveTo>
                    <a:pt x="0" y="0"/>
                  </a:moveTo>
                  <a:lnTo>
                    <a:pt x="4254835" y="0"/>
                  </a:lnTo>
                  <a:lnTo>
                    <a:pt x="4254835" y="412893"/>
                  </a:lnTo>
                  <a:lnTo>
                    <a:pt x="0" y="412893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54835" cy="450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49608" y="1797446"/>
          <a:ext cx="7248513" cy="6810375"/>
        </p:xfrm>
        <a:graphic>
          <a:graphicData uri="http://schemas.openxmlformats.org/drawingml/2006/table">
            <a:tbl>
              <a:tblPr/>
              <a:tblGrid>
                <a:gridCol w="1697133"/>
                <a:gridCol w="1681421"/>
                <a:gridCol w="1798454"/>
                <a:gridCol w="2071506"/>
              </a:tblGrid>
              <a:tr h="8488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Macro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FFFFFF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Weighted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56E"/>
                    </a:solidFill>
                  </a:tcPr>
                </a:tc>
              </a:tr>
              <a:tr h="11350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Logistic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0.8511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0.8511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0.8503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8488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Linear SVM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0.8474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0.8473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0.8463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4212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BiLSTM Neural Network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0.8429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0.8436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1350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0.7890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0.7883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0.7872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  <a:tr h="14212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Multinomial Naive Bayes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0.6845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0.6630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0.6670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DAE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B8D5"/>
                    </a:solidFill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7593726" y="2232416"/>
            <a:ext cx="10948724" cy="5940433"/>
          </a:xfrm>
          <a:custGeom>
            <a:avLst/>
            <a:gdLst/>
            <a:ahLst/>
            <a:cxnLst/>
            <a:rect r="r" b="b" t="t" l="l"/>
            <a:pathLst>
              <a:path h="5940433" w="10948724">
                <a:moveTo>
                  <a:pt x="0" y="0"/>
                </a:moveTo>
                <a:lnTo>
                  <a:pt x="10948724" y="0"/>
                </a:lnTo>
                <a:lnTo>
                  <a:pt x="10948724" y="5940434"/>
                </a:lnTo>
                <a:lnTo>
                  <a:pt x="0" y="5940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3335" y="420573"/>
            <a:ext cx="16885965" cy="55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sz="4267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MULTI-CLASS SENTIMENT CLASSIFICATION RESULTS USING VADER-DERIVED WEAK LABELS.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50" y="9881235"/>
            <a:ext cx="1436445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3131"/>
                </a:solidFill>
                <a:latin typeface="Lexend Deca"/>
                <a:ea typeface="Lexend Deca"/>
                <a:cs typeface="Lexend Deca"/>
                <a:sym typeface="Lexend Deca"/>
              </a:rPr>
              <a:t>These are VADER-derived weak labels, not manually annotated human sentiment labels.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30088" y="8812530"/>
            <a:ext cx="1179151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Logistic Regression achieved the best multi-class Macro F1-score = 0.8511. BiLSTM was close with Macro F1-score = 0.8450.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19344569" cy="7166986"/>
            <a:chOff x="0" y="0"/>
            <a:chExt cx="4356256" cy="16139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255" cy="1613953"/>
            </a:xfrm>
            <a:custGeom>
              <a:avLst/>
              <a:gdLst/>
              <a:ahLst/>
              <a:cxnLst/>
              <a:rect r="r" b="b" t="t" l="l"/>
              <a:pathLst>
                <a:path h="1613953" w="4356255">
                  <a:moveTo>
                    <a:pt x="0" y="0"/>
                  </a:moveTo>
                  <a:lnTo>
                    <a:pt x="4356255" y="0"/>
                  </a:lnTo>
                  <a:lnTo>
                    <a:pt x="4356255" y="1613953"/>
                  </a:lnTo>
                  <a:lnTo>
                    <a:pt x="0" y="1613953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56256" cy="1652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43061" y="441890"/>
            <a:ext cx="12343403" cy="2907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72"/>
              </a:lnSpc>
            </a:pPr>
            <a:r>
              <a:rPr lang="en-US" sz="11638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KEY INSIGHTS &amp; RECOMMENDATIONS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42623" y="3301697"/>
            <a:ext cx="11363321" cy="350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  <a:spcBef>
                <a:spcPct val="0"/>
              </a:spcBef>
            </a:pP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Key Insights</a:t>
            </a:r>
          </a:p>
          <a:p>
            <a:pPr algn="just" marL="616857" indent="-308428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FIFA 23 feedb</a:t>
            </a: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ack was mixed, but leaned negative.</a:t>
            </a:r>
          </a:p>
          <a:p>
            <a:pPr algn="just" marL="616857" indent="-308428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Log</a:t>
            </a: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istic Regression was the best binary model.</a:t>
            </a:r>
          </a:p>
          <a:p>
            <a:pPr algn="just" marL="616857" indent="-308428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BiLSTM p</a:t>
            </a: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erformed well as the trained deep learning model.</a:t>
            </a:r>
          </a:p>
          <a:p>
            <a:pPr algn="just" marL="616857" indent="-308428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DistilBERT underperformed because it was not fine-tuned.</a:t>
            </a:r>
          </a:p>
          <a:p>
            <a:pPr algn="just" marL="616857" indent="-308428" lvl="1">
              <a:lnSpc>
                <a:spcPts val="3999"/>
              </a:lnSpc>
              <a:spcBef>
                <a:spcPct val="0"/>
              </a:spcBef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VADER only partially agreed with voted_up.</a:t>
            </a:r>
          </a:p>
          <a:p>
            <a:pPr algn="just">
              <a:lnSpc>
                <a:spcPts val="39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76325" y="6858151"/>
            <a:ext cx="14908779" cy="301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R</a:t>
            </a: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ecommendations:</a:t>
            </a:r>
          </a:p>
          <a:p>
            <a:pPr algn="l" marL="620953" indent="-310477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Impr</a:t>
            </a: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ove price/value perception.</a:t>
            </a:r>
          </a:p>
          <a:p>
            <a:pPr algn="l" marL="620953" indent="-310477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Reduce monetization frustration.</a:t>
            </a:r>
          </a:p>
          <a:p>
            <a:pPr algn="l" marL="620953" indent="-310477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Fix bugs, crashes and anti-cheat issues.</a:t>
            </a:r>
          </a:p>
          <a:p>
            <a:pPr algn="l" marL="620953" indent="-310477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Improve online server stability.</a:t>
            </a:r>
          </a:p>
          <a:p>
            <a:pPr algn="l" marL="620953" indent="-310477" lvl="1">
              <a:lnSpc>
                <a:spcPts val="4026"/>
              </a:lnSpc>
              <a:buFont typeface="Arial"/>
              <a:buChar char="•"/>
            </a:pPr>
            <a:r>
              <a:rPr lang="en-US" sz="287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Maintain graphics quality because it was the most positive aspect.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85947" y="1875209"/>
            <a:ext cx="5093535" cy="50960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DAE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1272" y="-620353"/>
            <a:ext cx="9246124" cy="11212735"/>
            <a:chOff x="0" y="0"/>
            <a:chExt cx="2082160" cy="25250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160" cy="2525026"/>
            </a:xfrm>
            <a:custGeom>
              <a:avLst/>
              <a:gdLst/>
              <a:ahLst/>
              <a:cxnLst/>
              <a:rect r="r" b="b" t="t" l="l"/>
              <a:pathLst>
                <a:path h="2525026" w="2082160">
                  <a:moveTo>
                    <a:pt x="0" y="0"/>
                  </a:moveTo>
                  <a:lnTo>
                    <a:pt x="2082160" y="0"/>
                  </a:lnTo>
                  <a:lnTo>
                    <a:pt x="208216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82160" cy="2563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26544" y="652890"/>
            <a:ext cx="6347841" cy="14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72"/>
              </a:lnSpc>
            </a:pPr>
            <a:r>
              <a:rPr lang="en-US" sz="11638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CONCLUSION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4673" y="2150622"/>
            <a:ext cx="7177518" cy="7715043"/>
            <a:chOff x="0" y="0"/>
            <a:chExt cx="1616325" cy="17373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6325" cy="1737371"/>
            </a:xfrm>
            <a:custGeom>
              <a:avLst/>
              <a:gdLst/>
              <a:ahLst/>
              <a:cxnLst/>
              <a:rect r="r" b="b" t="t" l="l"/>
              <a:pathLst>
                <a:path h="1737371" w="1616325">
                  <a:moveTo>
                    <a:pt x="55010" y="0"/>
                  </a:moveTo>
                  <a:lnTo>
                    <a:pt x="1561314" y="0"/>
                  </a:lnTo>
                  <a:cubicBezTo>
                    <a:pt x="1575904" y="0"/>
                    <a:pt x="1589896" y="5796"/>
                    <a:pt x="1600212" y="16112"/>
                  </a:cubicBezTo>
                  <a:cubicBezTo>
                    <a:pt x="1610529" y="26429"/>
                    <a:pt x="1616325" y="40421"/>
                    <a:pt x="1616325" y="55010"/>
                  </a:cubicBezTo>
                  <a:lnTo>
                    <a:pt x="1616325" y="1682361"/>
                  </a:lnTo>
                  <a:cubicBezTo>
                    <a:pt x="1616325" y="1696951"/>
                    <a:pt x="1610529" y="1710943"/>
                    <a:pt x="1600212" y="1721259"/>
                  </a:cubicBezTo>
                  <a:cubicBezTo>
                    <a:pt x="1589896" y="1731576"/>
                    <a:pt x="1575904" y="1737371"/>
                    <a:pt x="1561314" y="1737371"/>
                  </a:cubicBezTo>
                  <a:lnTo>
                    <a:pt x="55010" y="1737371"/>
                  </a:lnTo>
                  <a:cubicBezTo>
                    <a:pt x="40421" y="1737371"/>
                    <a:pt x="26429" y="1731576"/>
                    <a:pt x="16112" y="1721259"/>
                  </a:cubicBezTo>
                  <a:cubicBezTo>
                    <a:pt x="5796" y="1710943"/>
                    <a:pt x="0" y="1696951"/>
                    <a:pt x="0" y="1682361"/>
                  </a:cubicBezTo>
                  <a:lnTo>
                    <a:pt x="0" y="55010"/>
                  </a:lnTo>
                  <a:cubicBezTo>
                    <a:pt x="0" y="40421"/>
                    <a:pt x="5796" y="26429"/>
                    <a:pt x="16112" y="16112"/>
                  </a:cubicBezTo>
                  <a:cubicBezTo>
                    <a:pt x="26429" y="5796"/>
                    <a:pt x="40421" y="0"/>
                    <a:pt x="55010" y="0"/>
                  </a:cubicBezTo>
                  <a:close/>
                </a:path>
              </a:pathLst>
            </a:custGeom>
            <a:solidFill>
              <a:srgbClr val="DAE9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16325" cy="1775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58240" y="2180152"/>
            <a:ext cx="6684448" cy="758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5685" indent="-332843" lvl="1">
              <a:lnSpc>
                <a:spcPts val="4316"/>
              </a:lnSpc>
              <a:buFont typeface="Arial"/>
              <a:buChar char="•"/>
            </a:pPr>
            <a:r>
              <a:rPr lang="en-US" sz="3083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FIFA 23 Steam reviews were mixed but leaned negative.</a:t>
            </a:r>
          </a:p>
          <a:p>
            <a:pPr algn="just" marL="665685" indent="-332843" lvl="1">
              <a:lnSpc>
                <a:spcPts val="4316"/>
              </a:lnSpc>
              <a:buFont typeface="Arial"/>
              <a:buChar char="•"/>
            </a:pPr>
            <a:r>
              <a:rPr lang="en-US" sz="3083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Logistic Regression with TF-IDF gave the best binary result.</a:t>
            </a:r>
          </a:p>
          <a:p>
            <a:pPr algn="just" marL="665685" indent="-332843" lvl="1">
              <a:lnSpc>
                <a:spcPts val="4316"/>
              </a:lnSpc>
              <a:buFont typeface="Arial"/>
              <a:buChar char="•"/>
            </a:pPr>
            <a:r>
              <a:rPr lang="en-US" sz="3083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BiLSTM worked well as a trained deep learning model.</a:t>
            </a:r>
          </a:p>
          <a:p>
            <a:pPr algn="just" marL="665685" indent="-332843" lvl="1">
              <a:lnSpc>
                <a:spcPts val="4316"/>
              </a:lnSpc>
              <a:buFont typeface="Arial"/>
              <a:buChar char="•"/>
            </a:pPr>
            <a:r>
              <a:rPr lang="en-US" sz="3083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Dist</a:t>
            </a:r>
            <a:r>
              <a:rPr lang="en-US" sz="3083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ilBERT was useful as a transformer benchmark, but was not fine-tuned.</a:t>
            </a:r>
          </a:p>
          <a:p>
            <a:pPr algn="just" marL="665685" indent="-332843" lvl="1">
              <a:lnSpc>
                <a:spcPts val="4316"/>
              </a:lnSpc>
              <a:buFont typeface="Arial"/>
              <a:buChar char="•"/>
            </a:pPr>
            <a:r>
              <a:rPr lang="en-US" sz="3083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Main dissatisfaction came from monetization, servers, bugs, and performance.</a:t>
            </a:r>
          </a:p>
          <a:p>
            <a:pPr algn="just" marL="665685" indent="-332843" lvl="1">
              <a:lnSpc>
                <a:spcPts val="4316"/>
              </a:lnSpc>
              <a:spcBef>
                <a:spcPct val="0"/>
              </a:spcBef>
              <a:buFont typeface="Arial"/>
              <a:buChar char="•"/>
            </a:pPr>
            <a:r>
              <a:rPr lang="en-US" sz="3083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Graphics was the strongest positive aspect.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67513" y="652890"/>
            <a:ext cx="7915759" cy="149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72"/>
              </a:lnSpc>
            </a:pPr>
            <a:r>
              <a:rPr lang="en-US" sz="11638">
                <a:solidFill>
                  <a:srgbClr val="2F5F98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FUTURE WORK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48282" y="2150622"/>
            <a:ext cx="7311018" cy="7618839"/>
            <a:chOff x="0" y="0"/>
            <a:chExt cx="1646388" cy="17157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6388" cy="1715707"/>
            </a:xfrm>
            <a:custGeom>
              <a:avLst/>
              <a:gdLst/>
              <a:ahLst/>
              <a:cxnLst/>
              <a:rect r="r" b="b" t="t" l="l"/>
              <a:pathLst>
                <a:path h="1715707" w="1646388">
                  <a:moveTo>
                    <a:pt x="54006" y="0"/>
                  </a:moveTo>
                  <a:lnTo>
                    <a:pt x="1592382" y="0"/>
                  </a:lnTo>
                  <a:cubicBezTo>
                    <a:pt x="1622208" y="0"/>
                    <a:pt x="1646388" y="24179"/>
                    <a:pt x="1646388" y="54006"/>
                  </a:cubicBezTo>
                  <a:lnTo>
                    <a:pt x="1646388" y="1661701"/>
                  </a:lnTo>
                  <a:cubicBezTo>
                    <a:pt x="1646388" y="1676024"/>
                    <a:pt x="1640698" y="1689761"/>
                    <a:pt x="1630570" y="1699889"/>
                  </a:cubicBezTo>
                  <a:cubicBezTo>
                    <a:pt x="1620442" y="1710017"/>
                    <a:pt x="1606705" y="1715707"/>
                    <a:pt x="1592382" y="1715707"/>
                  </a:cubicBezTo>
                  <a:lnTo>
                    <a:pt x="54006" y="1715707"/>
                  </a:lnTo>
                  <a:cubicBezTo>
                    <a:pt x="24179" y="1715707"/>
                    <a:pt x="0" y="1691528"/>
                    <a:pt x="0" y="1661701"/>
                  </a:cubicBezTo>
                  <a:lnTo>
                    <a:pt x="0" y="54006"/>
                  </a:lnTo>
                  <a:cubicBezTo>
                    <a:pt x="0" y="39683"/>
                    <a:pt x="5690" y="25946"/>
                    <a:pt x="15818" y="15818"/>
                  </a:cubicBezTo>
                  <a:cubicBezTo>
                    <a:pt x="25946" y="5690"/>
                    <a:pt x="39683" y="0"/>
                    <a:pt x="54006" y="0"/>
                  </a:cubicBezTo>
                  <a:close/>
                </a:path>
              </a:pathLst>
            </a:custGeom>
            <a:solidFill>
              <a:srgbClr val="31356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46388" cy="1753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36040" y="2451614"/>
            <a:ext cx="6983103" cy="704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5685" indent="-332843" lvl="1">
              <a:lnSpc>
                <a:spcPts val="4316"/>
              </a:lnSpc>
              <a:buFont typeface="Arial"/>
              <a:buChar char="•"/>
            </a:pPr>
            <a:r>
              <a:rPr lang="en-US" sz="30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Manually annotate Positive, Neutral, and Negative sentiment labels.</a:t>
            </a:r>
          </a:p>
          <a:p>
            <a:pPr algn="just" marL="665685" indent="-332843" lvl="1">
              <a:lnSpc>
                <a:spcPts val="4316"/>
              </a:lnSpc>
              <a:buFont typeface="Arial"/>
              <a:buChar char="•"/>
            </a:pPr>
            <a:r>
              <a:rPr lang="en-US" sz="30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Fine-tune DistilBERT or another transformer on FIFA 23 reviews.</a:t>
            </a:r>
          </a:p>
          <a:p>
            <a:pPr algn="just" marL="665685" indent="-332843" lvl="1">
              <a:lnSpc>
                <a:spcPts val="4316"/>
              </a:lnSpc>
              <a:buFont typeface="Arial"/>
              <a:buChar char="•"/>
            </a:pPr>
            <a:r>
              <a:rPr lang="en-US" sz="30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Improve BiLSTM through tuning and pretrained embeddings.</a:t>
            </a:r>
          </a:p>
          <a:p>
            <a:pPr algn="just" marL="665685" indent="-332843" lvl="1">
              <a:lnSpc>
                <a:spcPts val="4316"/>
              </a:lnSpc>
              <a:buFont typeface="Arial"/>
              <a:buChar char="•"/>
            </a:pPr>
            <a:r>
              <a:rPr lang="en-US" sz="30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Expand aspect dictionaries with more football and EA-specific terms.</a:t>
            </a:r>
          </a:p>
          <a:p>
            <a:pPr algn="just" marL="665685" indent="-332843" lvl="1">
              <a:lnSpc>
                <a:spcPts val="4316"/>
              </a:lnSpc>
              <a:spcBef>
                <a:spcPct val="0"/>
              </a:spcBef>
              <a:buFont typeface="Arial"/>
              <a:buChar char="•"/>
            </a:pPr>
            <a:r>
              <a:rPr lang="en-US" sz="308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Compare FIFA 23 with other EA Sports FC / FIFA releases.</a:t>
            </a:r>
          </a:p>
          <a:p>
            <a:pPr algn="just">
              <a:lnSpc>
                <a:spcPts val="43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DAHM12zy8nc</dc:identifier>
  <dcterms:modified xsi:type="dcterms:W3CDTF">2011-08-01T06:04:30Z</dcterms:modified>
  <cp:revision>1</cp:revision>
  <dc:title>TT8L_Haque Radiah_Group10_ASGN</dc:title>
</cp:coreProperties>
</file>